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38090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9246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1415884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7301365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781269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0403490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4334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14810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57592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4731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3668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 lang="cs-CZ"/>
              <a:t>Mobilní aplikace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S cílem pomoci uživatelům zapamatovat si biblické verše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Abyste si to dokázali představit trochu více, tak si představte aplikaci duolingo, ale místo jazyků se učíte nazpaměť části bible</a:t>
            </a:r>
            <a:endParaRPr/>
          </a:p>
        </p:txBody>
      </p:sp>
      <p:sp>
        <p:nvSpPr>
          <p:cNvPr id="1953487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41C873-6901-8478-EEAD-812A793ED6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18924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1048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/>
              <a:t>Podobn</a:t>
            </a:r>
            <a:r>
              <a:rPr lang="cs-CZ"/>
              <a:t>é aplikace existují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Nejsou ale optimální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Moji přátelé o takovou aplikaci stojí</a:t>
            </a:r>
            <a:endParaRPr/>
          </a:p>
        </p:txBody>
      </p:sp>
      <p:sp>
        <p:nvSpPr>
          <p:cNvPr id="1750849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C4C910-BC1F-0F32-904A-A1DDFB9C1E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5247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660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 lang="cs-CZ"/>
              <a:t>Hlavně a v podstatě jen křesťané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Pro jiné lidi to nedává moc smysl...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Pro křesťani, kteří si chtějí memorizovat části bible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Musí používat horší aplikace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Případně papír</a:t>
            </a:r>
            <a:endParaRPr/>
          </a:p>
        </p:txBody>
      </p:sp>
      <p:sp>
        <p:nvSpPr>
          <p:cNvPr id="13500770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C9724-969E-AAA8-AEE3-85984811D4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4169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20865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 lang="cs-CZ"/>
              <a:t>Popíšu vám hlavní user flow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Uživatel spustí aplikaci a řekne: „Chtěl bych se naučit nový verš.“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Uživatel jde na stránku s textem bible. Tam si označí a uloží verš, který se chce naučit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Přejde na obrazovku procvičování a zapne procvičování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Uživatel pak hraje různé minihry, které ho daný verš naučí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Zároveň mu aplikace zobrazí na procvičení verše, které si uložil v minulosti, aby si je zopakoval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Po procvičení se uživatel může pokochat svými statistikami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To je základní user flow z pohledu uživatele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Ale velká a klíčová funkcionalita, kterou uživatel vidí nepřímo je intervalové opakování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Intervalové opakování je </a:t>
            </a:r>
            <a:r>
              <a:rPr lang="cs-CZ"/>
              <a:t>technika učení se s rostoucími časovými rozestupy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Například: Chci si něco zapamatovat. 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1. Den si to zapamatuji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2. Den si to zopakuji a umím to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3. Den nemusím opakovat, protože jsem to 1. A 2. Den uměl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4. Den si to opět zopakuji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5. Ne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A takhle se postupně zvětšují mezery mezi opakováním, dokud si člověk neuloží danou informaci do dlouhodobé paměti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endParaRPr/>
          </a:p>
        </p:txBody>
      </p:sp>
      <p:sp>
        <p:nvSpPr>
          <p:cNvPr id="897420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D77059-50D4-46BE-93A9-94B81D4A43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600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28395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 lang="cs-CZ"/>
              <a:t>Jak už jsem zmiňoval tak existuje několik podobných projektů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Ty jsem analyzoval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Zjistil jsem, že jsou neintuitivní, tím pádem pro uživatele nepřívětivé, jelikož učení je ztížené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Jen jedna z aplikací podporuje český překlad bible a žádný z nich českou lokalizaci prostředí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A žádná z nich nepodporuje intervalové učení. Aplikace to často řeší tím, že uživatel si sám určí, jestli verš umí a kdy si ho zopakuje, což opět ztěžuje učení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Jelikož tedy konkurence není dobrá, tak jsem se rozhodl tento projekt vytvořit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Pojďme se tedy podívat už konkrétně na můj projekt</a:t>
            </a:r>
            <a:endParaRPr/>
          </a:p>
        </p:txBody>
      </p:sp>
      <p:sp>
        <p:nvSpPr>
          <p:cNvPr id="20010902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357F60-C5CB-4C90-1542-CA78129846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6488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7154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 lang="cs-CZ"/>
              <a:t>Můj projekt je z uživatelského pohledu mobilní aplikace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Na její vývoj jsem použil framework flutter, protože umožňuje vývoj jak android tak ios aplikace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Aplikace také podporuje offline režim, který používá lokální databázi SQLite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Pro backend jsem zvolil NodeJS framework NestJS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NestJS server komunikuje s PostgreSQL databází a mimo jiné server používá cloudflare tunel, pro umožnění připojit se k serveru bez veřejné ip adresy a pro zabezpečenou komunikaci</a:t>
            </a:r>
            <a:endParaRPr lang="cs-CZ"/>
          </a:p>
        </p:txBody>
      </p:sp>
      <p:sp>
        <p:nvSpPr>
          <p:cNvPr id="17429457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0DF749-B082-E94A-B852-A011ADB20C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197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37790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 lang="cs-CZ"/>
              <a:t>Tady můžeme vidět diagram ukazující architekturu aplikace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Vlevo nahoře vidíme view, neboli náš grafickou část frontendu aplikace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Ta je napojená na view model, což je business část aplikace, která komunikuje s </a:t>
            </a:r>
            <a:endParaRPr/>
          </a:p>
        </p:txBody>
      </p:sp>
      <p:sp>
        <p:nvSpPr>
          <p:cNvPr id="609482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0083F2-6388-B2EE-D2EA-0F6EA37E6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012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2160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 lang="cs-CZ"/>
              <a:t>Tady můžeme vidět class diagram aplikace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Je poměrně jednoduchý. Základní třída je samozřejmě uživatel.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Ten má klasický properties. Jedna zajímavý je kód přátelství, který se náhodně generuje při registraci a slouží k přidání daného uživatele jako přítele.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Uživatel může mít uloženo několik veršů. Tam je properties více. V podstatě ale jde o identifikace verše a o údaje pro intervalové opakování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Uložený verš a zároveň i uživatel mohou mít několik procvičení. To znamená, že uživatel si zahrál nějakou minihru a my máme data, jako jak moc se mu dařilo, či jak dlouho to trvalo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Nakonec je tady tabulka přátelství, která mezi dvojcemi uživatelů vytváří přátelství</a:t>
            </a:r>
            <a:endParaRPr/>
          </a:p>
        </p:txBody>
      </p:sp>
      <p:sp>
        <p:nvSpPr>
          <p:cNvPr id="694343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576607-D29B-9A84-349D-35DCF7580F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3216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891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 lang="cs-CZ"/>
              <a:t>V projektu už mám hotové 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přihlášení a registraci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ukládání veršů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zobrazení statistik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systém přátelství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nějaké nastavení pro větší přístupnost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offline režim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Základní intervalové opakování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Základní intervalové opakování znamená, že aktuálně aplikace používá algoritmus SM-2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To by se dalo ještě vylepšit, ale o tom ještě později</a:t>
            </a:r>
            <a:endParaRPr/>
          </a:p>
        </p:txBody>
      </p:sp>
      <p:sp>
        <p:nvSpPr>
          <p:cNvPr id="11420783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4D2E6-A59D-509B-6C32-BBA7A2467D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7664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2984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 lang="cs-CZ"/>
              <a:t>Budu ještě dělat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Grafickou část aplikace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Notifikace</a:t>
            </a:r>
            <a:endParaRPr lang="cs-CZ"/>
          </a:p>
          <a:p>
            <a:pPr marL="217793" indent="-217793">
              <a:buFont typeface="Arial"/>
              <a:buChar char="–"/>
              <a:defRPr/>
            </a:pPr>
            <a:r>
              <a:rPr lang="cs-CZ"/>
              <a:t>A minihry</a:t>
            </a:r>
            <a:endParaRPr/>
          </a:p>
        </p:txBody>
      </p:sp>
      <p:sp>
        <p:nvSpPr>
          <p:cNvPr id="1593021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2C2860-F153-7119-BCF0-01E2508618D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6322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2550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259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9CCEBE-708F-3D8C-1DCA-380139C1B3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3280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9314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327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23570C-3777-A940-D040-D57DA8ED35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35450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004854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3938320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458566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57565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9565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0358581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600598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481749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52064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93436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37409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063365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1746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02291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105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855652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17880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975152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3259502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15707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15222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17514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570301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858907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366941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610095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1700509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079312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5189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772537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6009267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136397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72755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0690837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128779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45381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06782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463152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6455148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8522852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866149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96955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124475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72141570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2013069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785044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415590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6130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0562076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411145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8078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96497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33264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0553868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304861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462100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71773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87867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869792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40326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0440885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54826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015935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Bible memorization</a:t>
            </a:r>
            <a:endParaRPr lang="en-US"/>
          </a:p>
        </p:txBody>
      </p:sp>
      <p:sp>
        <p:nvSpPr>
          <p:cNvPr id="851038211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Autor: Mat</a:t>
            </a:r>
            <a:r>
              <a:rPr lang="cs-CZ"/>
              <a:t>ěj Komárek</a:t>
            </a:r>
            <a:endParaRPr lang="cs-CZ"/>
          </a:p>
          <a:p>
            <a:pPr>
              <a:defRPr/>
            </a:pPr>
            <a:r>
              <a:rPr lang="cs-CZ"/>
              <a:t>Vedoucí projektu: Ing. Monika Borkovcová, Ph.D.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3028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Co je můj projekt</a:t>
            </a:r>
            <a:endParaRPr/>
          </a:p>
        </p:txBody>
      </p:sp>
      <p:sp>
        <p:nvSpPr>
          <p:cNvPr id="20741836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Mobilní aplikace</a:t>
            </a:r>
            <a:endParaRPr lang="cs-CZ"/>
          </a:p>
          <a:p>
            <a:pPr>
              <a:defRPr/>
            </a:pPr>
            <a:r>
              <a:rPr lang="cs-CZ"/>
              <a:t>Zapamatovat si biblické verše</a:t>
            </a:r>
            <a:endParaRPr lang="cs-CZ"/>
          </a:p>
          <a:p>
            <a:pPr>
              <a:defRPr/>
            </a:pPr>
            <a:r>
              <a:rPr lang="cs-CZ"/>
              <a:t>Styl podobný aplikaci Duolingo</a:t>
            </a:r>
            <a:endParaRPr lang="cs-CZ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8880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Motivace k projektu</a:t>
            </a:r>
            <a:endParaRPr/>
          </a:p>
        </p:txBody>
      </p:sp>
      <p:sp>
        <p:nvSpPr>
          <p:cNvPr id="20718971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Mezera na trhu</a:t>
            </a:r>
            <a:endParaRPr lang="cs-CZ"/>
          </a:p>
          <a:p>
            <a:pPr>
              <a:defRPr/>
            </a:pPr>
            <a:r>
              <a:rPr lang="cs-CZ"/>
              <a:t>Přátelé</a:t>
            </a:r>
            <a:endParaRPr lang="cs-CZ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670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Cílová skupina</a:t>
            </a:r>
            <a:endParaRPr/>
          </a:p>
        </p:txBody>
      </p:sp>
      <p:sp>
        <p:nvSpPr>
          <p:cNvPr id="10123404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Křesťané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9154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Klíčové funkcionality</a:t>
            </a:r>
            <a:endParaRPr/>
          </a:p>
        </p:txBody>
      </p:sp>
      <p:sp>
        <p:nvSpPr>
          <p:cNvPr id="131710810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Uložení verše pro naučení</a:t>
            </a:r>
            <a:endParaRPr lang="cs-CZ"/>
          </a:p>
          <a:p>
            <a:pPr>
              <a:defRPr/>
            </a:pPr>
            <a:r>
              <a:rPr lang="cs-CZ"/>
              <a:t>Hraní miniher pro naučení verše</a:t>
            </a:r>
            <a:endParaRPr lang="cs-CZ"/>
          </a:p>
          <a:p>
            <a:pPr>
              <a:defRPr/>
            </a:pPr>
            <a:r>
              <a:rPr lang="cs-CZ"/>
              <a:t>Porovnání s přáteli</a:t>
            </a:r>
            <a:endParaRPr lang="cs-CZ"/>
          </a:p>
          <a:p>
            <a:pPr>
              <a:defRPr/>
            </a:pPr>
            <a:endParaRPr/>
          </a:p>
          <a:p>
            <a:pPr>
              <a:defRPr/>
            </a:pPr>
            <a:r>
              <a:rPr lang="cs-CZ"/>
              <a:t>Intervalové opakování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8480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Konkurenční projekty</a:t>
            </a:r>
            <a:endParaRPr/>
          </a:p>
        </p:txBody>
      </p:sp>
      <p:sp>
        <p:nvSpPr>
          <p:cNvPr id="5466238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Neintuitivní</a:t>
            </a:r>
            <a:endParaRPr lang="cs-CZ"/>
          </a:p>
          <a:p>
            <a:pPr>
              <a:defRPr/>
            </a:pPr>
            <a:r>
              <a:rPr lang="cs-CZ"/>
              <a:t>Nepřívětivé pro uživatele</a:t>
            </a:r>
            <a:endParaRPr lang="cs-CZ"/>
          </a:p>
          <a:p>
            <a:pPr>
              <a:defRPr/>
            </a:pPr>
            <a:r>
              <a:rPr lang="cs-CZ"/>
              <a:t>Nepodporující češtinu</a:t>
            </a:r>
            <a:endParaRPr lang="cs-CZ"/>
          </a:p>
          <a:p>
            <a:pPr>
              <a:defRPr/>
            </a:pPr>
            <a:r>
              <a:rPr lang="cs-CZ"/>
              <a:t>Nepodporující intervalové opakování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8412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Technologie</a:t>
            </a:r>
            <a:endParaRPr/>
          </a:p>
        </p:txBody>
      </p:sp>
      <p:sp>
        <p:nvSpPr>
          <p:cNvPr id="176375601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cs-CZ" sz="24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Frontend</a:t>
            </a:r>
            <a:endParaRPr/>
          </a:p>
        </p:txBody>
      </p:sp>
      <p:sp>
        <p:nvSpPr>
          <p:cNvPr id="105622032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7" y="2505073"/>
            <a:ext cx="5157786" cy="3684587"/>
          </a:xfrm>
        </p:spPr>
        <p:txBody>
          <a:bodyPr/>
          <a:lstStyle/>
          <a:p>
            <a:pPr>
              <a:defRPr/>
            </a:pPr>
            <a:r>
              <a:rPr lang="cs-CZ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Mobilní aplikace</a:t>
            </a:r>
            <a:endParaRPr sz="2800"/>
          </a:p>
          <a:p>
            <a:pPr>
              <a:defRPr/>
            </a:pPr>
            <a:r>
              <a:rPr lang="cs-CZ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Flutter</a:t>
            </a:r>
            <a:endParaRPr sz="2800"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SQLite</a:t>
            </a:r>
            <a:endParaRPr sz="2800"/>
          </a:p>
          <a:p>
            <a:pPr>
              <a:defRPr/>
            </a:pPr>
            <a:endParaRPr/>
          </a:p>
        </p:txBody>
      </p:sp>
      <p:sp>
        <p:nvSpPr>
          <p:cNvPr id="91008749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defRPr/>
            </a:pPr>
            <a:r>
              <a:rPr lang="cs-CZ" sz="24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Backend</a:t>
            </a:r>
            <a:endParaRPr/>
          </a:p>
        </p:txBody>
      </p:sp>
      <p:sp>
        <p:nvSpPr>
          <p:cNvPr id="55698925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3"/>
            <a:ext cx="5183187" cy="3684587"/>
          </a:xfrm>
        </p:spPr>
        <p:txBody>
          <a:bodyPr/>
          <a:lstStyle/>
          <a:p>
            <a:pPr>
              <a:defRPr/>
            </a:pPr>
            <a:r>
              <a:rPr lang="cs-CZ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NestJS</a:t>
            </a:r>
            <a:endParaRPr lang="cs-CZ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PostgreSQL</a:t>
            </a:r>
            <a:endParaRPr sz="2800"/>
          </a:p>
          <a:p>
            <a:pPr>
              <a:defRPr/>
            </a:pPr>
            <a:r>
              <a:rPr lang="cs-CZ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Cloudflare tunnel</a:t>
            </a:r>
            <a:endParaRPr sz="2800"/>
          </a:p>
          <a:p>
            <a:pPr>
              <a:defRPr/>
            </a:pPr>
            <a:endParaRPr sz="28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661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848479" y="241592"/>
            <a:ext cx="8495041" cy="63748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488642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069345" y="229740"/>
            <a:ext cx="8053309" cy="63985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3343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Hotovo</a:t>
            </a:r>
            <a:endParaRPr/>
          </a:p>
        </p:txBody>
      </p:sp>
      <p:sp>
        <p:nvSpPr>
          <p:cNvPr id="10221488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Přihlášení/registrace</a:t>
            </a:r>
            <a:endParaRPr lang="cs-CZ"/>
          </a:p>
          <a:p>
            <a:pPr>
              <a:defRPr/>
            </a:pPr>
            <a:r>
              <a:rPr lang="cs-CZ"/>
              <a:t>Ukládání veršů z textu bible</a:t>
            </a:r>
            <a:endParaRPr lang="cs-CZ"/>
          </a:p>
          <a:p>
            <a:pPr>
              <a:defRPr/>
            </a:pPr>
            <a:r>
              <a:rPr lang="cs-CZ"/>
              <a:t>Zobrazení statistik</a:t>
            </a:r>
            <a:endParaRPr lang="cs-CZ"/>
          </a:p>
          <a:p>
            <a:pPr>
              <a:defRPr/>
            </a:pPr>
            <a:r>
              <a:rPr lang="cs-CZ"/>
              <a:t>Systém přátelství</a:t>
            </a:r>
            <a:endParaRPr lang="cs-CZ"/>
          </a:p>
          <a:p>
            <a:pPr>
              <a:defRPr/>
            </a:pPr>
            <a:r>
              <a:rPr lang="cs-CZ"/>
              <a:t>Přístupnost aplikace</a:t>
            </a:r>
            <a:endParaRPr lang="cs-CZ"/>
          </a:p>
          <a:p>
            <a:pPr>
              <a:defRPr/>
            </a:pPr>
            <a:r>
              <a:rPr lang="cs-CZ"/>
              <a:t>Offline režim</a:t>
            </a:r>
            <a:endParaRPr lang="cs-CZ"/>
          </a:p>
          <a:p>
            <a:pPr>
              <a:defRPr/>
            </a:pPr>
            <a:r>
              <a:rPr lang="cs-CZ"/>
              <a:t>Základní intervalové opakování</a:t>
            </a:r>
            <a:endParaRPr lang="cs-CZ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4094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Budu dělat</a:t>
            </a:r>
            <a:endParaRPr/>
          </a:p>
        </p:txBody>
      </p:sp>
      <p:sp>
        <p:nvSpPr>
          <p:cNvPr id="145857086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Grafickou část aplikace</a:t>
            </a:r>
            <a:endParaRPr lang="cs-CZ"/>
          </a:p>
          <a:p>
            <a:pPr>
              <a:defRPr/>
            </a:pPr>
            <a:r>
              <a:rPr lang="cs-CZ"/>
              <a:t>Notifikace</a:t>
            </a:r>
            <a:endParaRPr lang="cs-CZ"/>
          </a:p>
          <a:p>
            <a:pPr>
              <a:defRPr/>
            </a:pPr>
            <a:r>
              <a:rPr lang="en-US"/>
              <a:t>Minihry</a:t>
            </a:r>
            <a:endParaRPr lang="cs-CZ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5475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cs-CZ"/>
              <a:t>Ukázka</a:t>
            </a:r>
            <a:endParaRPr/>
          </a:p>
        </p:txBody>
      </p:sp>
      <p:sp>
        <p:nvSpPr>
          <p:cNvPr id="41647581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0006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Mo</a:t>
            </a:r>
            <a:r>
              <a:rPr lang="cs-CZ"/>
              <a:t>žné vylepšení</a:t>
            </a:r>
            <a:endParaRPr/>
          </a:p>
        </p:txBody>
      </p:sp>
      <p:sp>
        <p:nvSpPr>
          <p:cNvPr id="105998888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cs-CZ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Half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-Life regression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2026-01-09T12:08:48Z</dcterms:modified>
</cp:coreProperties>
</file>